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cbef2c02e7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cbef2c02e7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cbef2c02e7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cbef2c02e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cbef2c02e7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cbef2c02e7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cbef2c02e7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cbef2c02e7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cbef2c02e7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cbef2c02e7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cbef2c02e7_1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cbef2c02e7_1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cbef2c02e7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cbef2c02e7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cbef2c02e7_1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cbef2c02e7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cbef2c02e7_1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cbef2c02e7_1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cbef2c02e7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cbef2c02e7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cbf67dfd5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cbf67dfd5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cbef2c02e7_1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cbef2c02e7_1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cbef2c02e7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cbef2c02e7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kaggle.com/datasets/manishabhatt22/marketing-campaign-performance-dataset"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descr="Beautify this slide" id="54" name="Google Shape;54;p13"/>
          <p:cNvPicPr preferRelativeResize="0"/>
          <p:nvPr/>
        </p:nvPicPr>
        <p:blipFill>
          <a:blip r:embed="rId3">
            <a:alphaModFix/>
          </a:blip>
          <a:stretch>
            <a:fillRect/>
          </a:stretch>
        </p:blipFill>
        <p:spPr>
          <a:xfrm>
            <a:off x="-35700" y="0"/>
            <a:ext cx="9210675"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The Scenario</a:t>
            </a:r>
            <a:endParaRPr/>
          </a:p>
        </p:txBody>
      </p:sp>
      <p:sp>
        <p:nvSpPr>
          <p:cNvPr id="60" name="Google Shape;60;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In this scenario, we are in the position of either a new firm that has just opened a marketing department or an established firm looking to market a new product for which we have no prior data and are thus relying on industry data.</a:t>
            </a:r>
            <a:endParaRPr/>
          </a:p>
          <a:p>
            <a:pPr indent="0" lvl="0" marL="0" rtl="0" algn="l">
              <a:spcBef>
                <a:spcPts val="1200"/>
              </a:spcBef>
              <a:spcAft>
                <a:spcPts val="0"/>
              </a:spcAft>
              <a:buClr>
                <a:schemeClr val="dk1"/>
              </a:buClr>
              <a:buSzPts val="1100"/>
              <a:buFont typeface="Arial"/>
              <a:buNone/>
            </a:pPr>
            <a:r>
              <a:rPr lang="en"/>
              <a:t>We must decide how much money to spend in each channel to maximize our desired KPI.</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The Scenario</a:t>
            </a:r>
            <a:endParaRPr/>
          </a:p>
        </p:txBody>
      </p:sp>
      <p:sp>
        <p:nvSpPr>
          <p:cNvPr id="66" name="Google Shape;66;p15"/>
          <p:cNvSpPr txBox="1"/>
          <p:nvPr>
            <p:ph idx="1" type="body"/>
          </p:nvPr>
        </p:nvSpPr>
        <p:spPr>
          <a:xfrm>
            <a:off x="311700" y="11943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We have a limited budget and no previous data from our organization, but we have industry data. Our goal is to estimate how different strategies/allocations affect various KPIs.</a:t>
            </a:r>
            <a:endParaRPr/>
          </a:p>
          <a:p>
            <a:pPr indent="0" lvl="0" marL="0" rtl="0" algn="l">
              <a:spcBef>
                <a:spcPts val="1200"/>
              </a:spcBef>
              <a:spcAft>
                <a:spcPts val="0"/>
              </a:spcAft>
              <a:buClr>
                <a:schemeClr val="dk1"/>
              </a:buClr>
              <a:buSzPts val="1100"/>
              <a:buFont typeface="Arial"/>
              <a:buNone/>
            </a:pPr>
            <a:r>
              <a:rPr lang="en"/>
              <a:t>There are many potential sources of uncertainty, namely that we do not know how a particular campaign will perform, as well as the variation in the industry data.</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Data and Assumptions</a:t>
            </a:r>
            <a:endParaRPr/>
          </a:p>
        </p:txBody>
      </p:sp>
      <p:sp>
        <p:nvSpPr>
          <p:cNvPr id="72" name="Google Shape;72;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 used an industry dataset obtained from kaggle. </a:t>
            </a:r>
            <a:r>
              <a:rPr lang="en"/>
              <a:t>The data was clean with no nulls, extreme outliers, or other concerning artifacts.</a:t>
            </a:r>
            <a:r>
              <a:rPr lang="en"/>
              <a:t> </a:t>
            </a:r>
            <a:endParaRPr/>
          </a:p>
          <a:p>
            <a:pPr indent="0" lvl="0" marL="0" rtl="0" algn="l">
              <a:spcBef>
                <a:spcPts val="1200"/>
              </a:spcBef>
              <a:spcAft>
                <a:spcPts val="0"/>
              </a:spcAft>
              <a:buNone/>
            </a:pPr>
            <a:r>
              <a:rPr lang="en"/>
              <a:t>It can be accessed here: </a:t>
            </a:r>
            <a:r>
              <a:rPr lang="en" sz="1500" u="sng">
                <a:solidFill>
                  <a:schemeClr val="hlink"/>
                </a:solidFill>
                <a:hlinkClick r:id="rId3"/>
              </a:rPr>
              <a:t>Marketing Campaign Performance Dataset</a:t>
            </a:r>
            <a:endParaRPr sz="2200"/>
          </a:p>
          <a:p>
            <a:pPr indent="0" lvl="0" marL="0" rtl="0" algn="l">
              <a:spcBef>
                <a:spcPts val="1200"/>
              </a:spcBef>
              <a:spcAft>
                <a:spcPts val="0"/>
              </a:spcAft>
              <a:buNone/>
            </a:pPr>
            <a:r>
              <a:rPr b="1" lang="en"/>
              <a:t>Assumptions: </a:t>
            </a:r>
            <a:endParaRPr b="1"/>
          </a:p>
          <a:p>
            <a:pPr indent="-342900" lvl="0" marL="457200" rtl="0" algn="l">
              <a:spcBef>
                <a:spcPts val="1200"/>
              </a:spcBef>
              <a:spcAft>
                <a:spcPts val="0"/>
              </a:spcAft>
              <a:buSzPts val="1800"/>
              <a:buChar char="-"/>
            </a:pPr>
            <a:r>
              <a:rPr lang="en"/>
              <a:t>The industry data can be used to predict our own performance.</a:t>
            </a:r>
            <a:endParaRPr/>
          </a:p>
          <a:p>
            <a:pPr indent="-342900" lvl="0" marL="457200" rtl="0" algn="l">
              <a:spcBef>
                <a:spcPts val="0"/>
              </a:spcBef>
              <a:spcAft>
                <a:spcPts val="0"/>
              </a:spcAft>
              <a:buSzPts val="1800"/>
              <a:buChar char="-"/>
            </a:pPr>
            <a:r>
              <a:rPr lang="en"/>
              <a:t>There is no ‘data drift’ in the sense that it may be outdated.</a:t>
            </a:r>
            <a:endParaRPr/>
          </a:p>
          <a:p>
            <a:pPr indent="0" lvl="0" marL="457200" rtl="0" algn="l">
              <a:spcBef>
                <a:spcPts val="1200"/>
              </a:spcBef>
              <a:spcAft>
                <a:spcPts val="1200"/>
              </a:spcAft>
              <a:buNone/>
            </a:pPr>
            <a:r>
              <a:rPr i="1" lang="en"/>
              <a:t>(Hidden Cleaning - the data was synthetic and lazily made, so we added some variation to the variables to make this project interesting)</a:t>
            </a:r>
            <a:endParaRPr i="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Prescriptive Analytics Models</a:t>
            </a:r>
            <a:endParaRPr/>
          </a:p>
        </p:txBody>
      </p:sp>
      <p:sp>
        <p:nvSpPr>
          <p:cNvPr id="78" name="Google Shape;78;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lnSpc>
                <a:spcPct val="95000"/>
              </a:lnSpc>
              <a:spcBef>
                <a:spcPts val="0"/>
              </a:spcBef>
              <a:spcAft>
                <a:spcPts val="0"/>
              </a:spcAft>
              <a:buSzPts val="1018"/>
              <a:buNone/>
            </a:pPr>
            <a:r>
              <a:rPr lang="en" sz="1500"/>
              <a:t>The first technique used is </a:t>
            </a:r>
            <a:r>
              <a:rPr b="1" lang="en" sz="1500"/>
              <a:t>linear programming/optimization</a:t>
            </a:r>
            <a:r>
              <a:rPr lang="en" sz="1500"/>
              <a:t>. The second is </a:t>
            </a:r>
            <a:r>
              <a:rPr b="1" lang="en" sz="1500"/>
              <a:t>simulation</a:t>
            </a:r>
            <a:r>
              <a:rPr lang="en" sz="1500"/>
              <a:t>.  The decision variable is the </a:t>
            </a:r>
            <a:r>
              <a:rPr b="1" lang="en" sz="1500"/>
              <a:t>percent allocation towards each marketing channel</a:t>
            </a:r>
            <a:r>
              <a:rPr lang="en" sz="1500"/>
              <a:t>. </a:t>
            </a:r>
            <a:endParaRPr sz="1500"/>
          </a:p>
          <a:p>
            <a:pPr indent="0" lvl="0" marL="0" rtl="0" algn="l">
              <a:lnSpc>
                <a:spcPct val="95000"/>
              </a:lnSpc>
              <a:spcBef>
                <a:spcPts val="1200"/>
              </a:spcBef>
              <a:spcAft>
                <a:spcPts val="0"/>
              </a:spcAft>
              <a:buSzPts val="1018"/>
              <a:buNone/>
            </a:pPr>
            <a:r>
              <a:rPr lang="en" sz="1500"/>
              <a:t>The simulation aspect is realized when the optimization model draws the relevant parameters from the approximated distributions. For example, there is no singular cost for email campaigns; they are generated each time from a parametrized distribution based on the data. The objective function is a </a:t>
            </a:r>
            <a:r>
              <a:rPr b="1" lang="en" sz="1500"/>
              <a:t>weighted average of the relevant KPIs</a:t>
            </a:r>
            <a:r>
              <a:rPr lang="en" sz="1500"/>
              <a:t>, which are also drawn stochastically, as are the costs. </a:t>
            </a:r>
            <a:endParaRPr sz="1500"/>
          </a:p>
          <a:p>
            <a:pPr indent="0" lvl="0" marL="0" rtl="0" algn="l">
              <a:lnSpc>
                <a:spcPct val="95000"/>
              </a:lnSpc>
              <a:spcBef>
                <a:spcPts val="1200"/>
              </a:spcBef>
              <a:spcAft>
                <a:spcPts val="0"/>
              </a:spcAft>
              <a:buSzPts val="1018"/>
              <a:buNone/>
            </a:pPr>
            <a:r>
              <a:rPr lang="en" sz="1500"/>
              <a:t>The major constraint is the</a:t>
            </a:r>
            <a:r>
              <a:rPr b="1" lang="en" sz="1500"/>
              <a:t> minimum 5% allocation</a:t>
            </a:r>
            <a:r>
              <a:rPr lang="en" sz="1500"/>
              <a:t> towards each channel. We believed this was reasonable, given that it is likely firms will have at least some activity on the channels available to them. There is also the total budget constraint, though it is largely irrelevant for decision-making given the nature of the problem, as we will see shortly. </a:t>
            </a:r>
            <a:endParaRPr sz="1500"/>
          </a:p>
          <a:p>
            <a:pPr indent="0" lvl="0" marL="0" rtl="0" algn="l">
              <a:lnSpc>
                <a:spcPct val="95000"/>
              </a:lnSpc>
              <a:spcBef>
                <a:spcPts val="1200"/>
              </a:spcBef>
              <a:spcAft>
                <a:spcPts val="1200"/>
              </a:spcAft>
              <a:buSzPts val="1018"/>
              <a:buNone/>
            </a:pPr>
            <a:r>
              <a:rPr lang="en" sz="1500"/>
              <a:t>The advantage of merging these approaches is that the variability of the underlying variables is handled naturally through simulation, whereas standalone optimization would be deterministic.</a:t>
            </a:r>
            <a:endParaRPr sz="1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39285"/>
              <a:buFont typeface="Arial"/>
              <a:buNone/>
            </a:pPr>
            <a:r>
              <a:rPr lang="en"/>
              <a:t>Understanding the Results</a:t>
            </a:r>
            <a:endParaRPr/>
          </a:p>
          <a:p>
            <a:pPr indent="0" lvl="0" marL="0" rtl="0" algn="l">
              <a:spcBef>
                <a:spcPts val="0"/>
              </a:spcBef>
              <a:spcAft>
                <a:spcPts val="0"/>
              </a:spcAft>
              <a:buNone/>
            </a:pPr>
            <a:r>
              <a:t/>
            </a:r>
            <a:endParaRPr/>
          </a:p>
        </p:txBody>
      </p:sp>
      <p:sp>
        <p:nvSpPr>
          <p:cNvPr id="84" name="Google Shape;84;p18"/>
          <p:cNvSpPr txBox="1"/>
          <p:nvPr>
            <p:ph idx="1" type="body"/>
          </p:nvPr>
        </p:nvSpPr>
        <p:spPr>
          <a:xfrm>
            <a:off x="3828300" y="1152475"/>
            <a:ext cx="5004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This is the actual distribution for one of the KPIs from our data. We estimate the best fitting probability distribution and associated parameters, then sample from that for the simulation. Due to the nature of the objective function and the minimum 5% constraint, there will be various channels that are ‘winners’ more often than others, and some which will more often be assigned to the 5%. Obviously costs affect this process in the same way.</a:t>
            </a:r>
            <a:endParaRPr/>
          </a:p>
        </p:txBody>
      </p:sp>
      <p:pic>
        <p:nvPicPr>
          <p:cNvPr id="85" name="Google Shape;85;p18"/>
          <p:cNvPicPr preferRelativeResize="0"/>
          <p:nvPr/>
        </p:nvPicPr>
        <p:blipFill>
          <a:blip r:embed="rId3">
            <a:alphaModFix/>
          </a:blip>
          <a:stretch>
            <a:fillRect/>
          </a:stretch>
        </p:blipFill>
        <p:spPr>
          <a:xfrm>
            <a:off x="311700" y="1152475"/>
            <a:ext cx="3456150" cy="22588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Understanding the Results</a:t>
            </a:r>
            <a:endParaRPr/>
          </a:p>
        </p:txBody>
      </p:sp>
      <p:sp>
        <p:nvSpPr>
          <p:cNvPr id="91" name="Google Shape;91;p19"/>
          <p:cNvSpPr txBox="1"/>
          <p:nvPr>
            <p:ph idx="1" type="body"/>
          </p:nvPr>
        </p:nvSpPr>
        <p:spPr>
          <a:xfrm>
            <a:off x="311700" y="963350"/>
            <a:ext cx="8520600" cy="3484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resulting distributions are incredibly bimodal. This should be expected, as some channels will - depending on stochastic variation on the draws - have more contribution to the objective in a given trial, and be given the priority over the other ones which drew more poorly that trial with regard the relative strengths of their costs and contributions to the KPI. Here, Display is a clear loser, never being the ‘dominant’ allocation in any of the trials.</a:t>
            </a:r>
            <a:endParaRPr/>
          </a:p>
        </p:txBody>
      </p:sp>
      <p:pic>
        <p:nvPicPr>
          <p:cNvPr id="92" name="Google Shape;92;p19"/>
          <p:cNvPicPr preferRelativeResize="0"/>
          <p:nvPr/>
        </p:nvPicPr>
        <p:blipFill>
          <a:blip r:embed="rId3">
            <a:alphaModFix/>
          </a:blip>
          <a:stretch>
            <a:fillRect/>
          </a:stretch>
        </p:blipFill>
        <p:spPr>
          <a:xfrm>
            <a:off x="0" y="2969993"/>
            <a:ext cx="9144003" cy="200471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Understanding the Results</a:t>
            </a:r>
            <a:endParaRPr/>
          </a:p>
        </p:txBody>
      </p:sp>
      <p:sp>
        <p:nvSpPr>
          <p:cNvPr id="98" name="Google Shape;98;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Influencer and Social Media also do very poorly, often being the ‘5%’ choices. It is email </a:t>
            </a:r>
            <a:r>
              <a:rPr lang="en"/>
              <a:t>allocation</a:t>
            </a:r>
            <a:r>
              <a:rPr lang="en"/>
              <a:t> and search allocation which are fighting for dominance, with Search slightly edging out.</a:t>
            </a:r>
            <a:endParaRPr/>
          </a:p>
        </p:txBody>
      </p:sp>
      <p:pic>
        <p:nvPicPr>
          <p:cNvPr id="99" name="Google Shape;99;p20"/>
          <p:cNvPicPr preferRelativeResize="0"/>
          <p:nvPr/>
        </p:nvPicPr>
        <p:blipFill>
          <a:blip r:embed="rId3">
            <a:alphaModFix/>
          </a:blip>
          <a:stretch>
            <a:fillRect/>
          </a:stretch>
        </p:blipFill>
        <p:spPr>
          <a:xfrm>
            <a:off x="0" y="2928093"/>
            <a:ext cx="9144003" cy="200471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Results &amp; Analysis</a:t>
            </a:r>
            <a:endParaRPr/>
          </a:p>
        </p:txBody>
      </p:sp>
      <p:sp>
        <p:nvSpPr>
          <p:cNvPr id="105" name="Google Shape;105;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This leads to the </a:t>
            </a:r>
            <a:r>
              <a:rPr lang="en"/>
              <a:t>conclusion</a:t>
            </a:r>
            <a:r>
              <a:rPr lang="en"/>
              <a:t> that, optimizing for Conversion Rate, the best decision would be budget allocation 80% to Search, and 5% to the rest.</a:t>
            </a:r>
            <a:endParaRPr/>
          </a:p>
        </p:txBody>
      </p:sp>
      <p:pic>
        <p:nvPicPr>
          <p:cNvPr id="106" name="Google Shape;106;p21"/>
          <p:cNvPicPr preferRelativeResize="0"/>
          <p:nvPr/>
        </p:nvPicPr>
        <p:blipFill>
          <a:blip r:embed="rId3">
            <a:alphaModFix/>
          </a:blip>
          <a:stretch>
            <a:fillRect/>
          </a:stretch>
        </p:blipFill>
        <p:spPr>
          <a:xfrm>
            <a:off x="0" y="2098768"/>
            <a:ext cx="9144003" cy="200471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39285"/>
              <a:buFont typeface="Arial"/>
              <a:buNone/>
            </a:pPr>
            <a:r>
              <a:rPr lang="en"/>
              <a:t>Results &amp; Analysis</a:t>
            </a:r>
            <a:endParaRPr/>
          </a:p>
          <a:p>
            <a:pPr indent="0" lvl="0" marL="0" rtl="0" algn="l">
              <a:spcBef>
                <a:spcPts val="0"/>
              </a:spcBef>
              <a:spcAft>
                <a:spcPts val="0"/>
              </a:spcAft>
              <a:buNone/>
            </a:pPr>
            <a:r>
              <a:t/>
            </a:r>
            <a:endParaRPr/>
          </a:p>
        </p:txBody>
      </p:sp>
      <p:sp>
        <p:nvSpPr>
          <p:cNvPr id="112" name="Google Shape;112;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In the case of optimizing for ROI, the best plan of action would be to give 80% of the budget towards Search results, although an Email campaign focus would not be unwarranted either.</a:t>
            </a:r>
            <a:endParaRPr/>
          </a:p>
        </p:txBody>
      </p:sp>
      <p:pic>
        <p:nvPicPr>
          <p:cNvPr id="113" name="Google Shape;113;p22"/>
          <p:cNvPicPr preferRelativeResize="0"/>
          <p:nvPr/>
        </p:nvPicPr>
        <p:blipFill>
          <a:blip r:embed="rId3">
            <a:alphaModFix/>
          </a:blip>
          <a:stretch>
            <a:fillRect/>
          </a:stretch>
        </p:blipFill>
        <p:spPr>
          <a:xfrm>
            <a:off x="0" y="2224418"/>
            <a:ext cx="9144003" cy="200471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Results and Analysis - A Custom KPI Metric</a:t>
            </a:r>
            <a:endParaRPr/>
          </a:p>
        </p:txBody>
      </p:sp>
      <p:sp>
        <p:nvSpPr>
          <p:cNvPr id="119" name="Google Shape;119;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sz="1300">
              <a:solidFill>
                <a:schemeClr val="dk1"/>
              </a:solidFill>
              <a:highlight>
                <a:schemeClr val="lt1"/>
              </a:highlight>
            </a:endParaRPr>
          </a:p>
          <a:p>
            <a:pPr indent="0" lvl="0" marL="0" rtl="0" algn="l">
              <a:spcBef>
                <a:spcPts val="600"/>
              </a:spcBef>
              <a:spcAft>
                <a:spcPts val="0"/>
              </a:spcAft>
              <a:buNone/>
            </a:pPr>
            <a:r>
              <a:rPr lang="en" sz="1300">
                <a:highlight>
                  <a:schemeClr val="lt1"/>
                </a:highlight>
              </a:rPr>
              <a:t>While Conversion Rates and ROIs are important, we wanted to come up with what we believed was a better representation of product engagement, which is the ultimate goal of marketing.</a:t>
            </a:r>
            <a:endParaRPr sz="1300">
              <a:highlight>
                <a:schemeClr val="lt1"/>
              </a:highlight>
            </a:endParaRPr>
          </a:p>
          <a:p>
            <a:pPr indent="0" lvl="0" marL="0" rtl="0" algn="l">
              <a:spcBef>
                <a:spcPts val="600"/>
              </a:spcBef>
              <a:spcAft>
                <a:spcPts val="0"/>
              </a:spcAft>
              <a:buClr>
                <a:schemeClr val="dk1"/>
              </a:buClr>
              <a:buSzPts val="1100"/>
              <a:buFont typeface="Arial"/>
              <a:buNone/>
            </a:pPr>
            <a:r>
              <a:rPr lang="en" sz="1300">
                <a:highlight>
                  <a:schemeClr val="lt1"/>
                </a:highlight>
              </a:rPr>
              <a:t>We combined three specific columns: Clicks, Impressions, and Engagement Score.</a:t>
            </a:r>
            <a:endParaRPr sz="1300">
              <a:highlight>
                <a:schemeClr val="lt1"/>
              </a:highlight>
            </a:endParaRPr>
          </a:p>
          <a:p>
            <a:pPr indent="0" lvl="0" marL="0" rtl="0" algn="l">
              <a:spcBef>
                <a:spcPts val="600"/>
              </a:spcBef>
              <a:spcAft>
                <a:spcPts val="0"/>
              </a:spcAft>
              <a:buClr>
                <a:schemeClr val="dk1"/>
              </a:buClr>
              <a:buSzPts val="1100"/>
              <a:buFont typeface="Arial"/>
              <a:buNone/>
            </a:pPr>
            <a:r>
              <a:rPr lang="en" sz="1300">
                <a:highlight>
                  <a:schemeClr val="lt1"/>
                </a:highlight>
              </a:rPr>
              <a:t>We first calculated the Click-Through Rate (CTR) - Clicks / Impressions - to see what percentage of people the advertisement got to stop and click.</a:t>
            </a:r>
            <a:endParaRPr sz="1300">
              <a:highlight>
                <a:schemeClr val="lt1"/>
              </a:highlight>
            </a:endParaRPr>
          </a:p>
          <a:p>
            <a:pPr indent="0" lvl="0" marL="0" rtl="0" algn="l">
              <a:spcBef>
                <a:spcPts val="600"/>
              </a:spcBef>
              <a:spcAft>
                <a:spcPts val="0"/>
              </a:spcAft>
              <a:buClr>
                <a:schemeClr val="dk1"/>
              </a:buClr>
              <a:buSzPts val="1100"/>
              <a:buFont typeface="Arial"/>
              <a:buNone/>
            </a:pPr>
            <a:r>
              <a:rPr lang="en" sz="1300">
                <a:highlight>
                  <a:schemeClr val="lt1"/>
                </a:highlight>
              </a:rPr>
              <a:t>We next designed a metric for Quality. We multiplied the CTR percentage by the Engagement Score, which ranges from 1-10. A high CTR with a low Engagement Score (e.g., clickbait) will be penalized, while a decent CTR with a perfect 10 Engagement Score will be heavily rewarded.</a:t>
            </a:r>
            <a:endParaRPr sz="1300">
              <a:highlight>
                <a:schemeClr val="lt1"/>
              </a:highlight>
            </a:endParaRPr>
          </a:p>
          <a:p>
            <a:pPr indent="0" lvl="0" marL="0" rtl="0" algn="l">
              <a:spcBef>
                <a:spcPts val="600"/>
              </a:spcBef>
              <a:spcAft>
                <a:spcPts val="0"/>
              </a:spcAft>
              <a:buClr>
                <a:schemeClr val="dk1"/>
              </a:buClr>
              <a:buSzPts val="1100"/>
              <a:buFont typeface="Arial"/>
              <a:buNone/>
            </a:pPr>
            <a:r>
              <a:rPr lang="en" sz="1300">
                <a:highlight>
                  <a:schemeClr val="lt1"/>
                </a:highlight>
              </a:rPr>
              <a:t>The end result is a more rounded metric which estimates how many "Engagement Points" the company gets for its advertisements through a given channel.</a:t>
            </a:r>
            <a:endParaRPr sz="1300">
              <a:highlight>
                <a:schemeClr val="lt1"/>
              </a:highlight>
            </a:endParaRPr>
          </a:p>
          <a:p>
            <a:pPr indent="0" lvl="0" marL="0" rtl="0" algn="l">
              <a:spcBef>
                <a:spcPts val="6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39285"/>
              <a:buFont typeface="Arial"/>
              <a:buNone/>
            </a:pPr>
            <a:r>
              <a:rPr lang="en"/>
              <a:t>Results &amp; Analysis</a:t>
            </a:r>
            <a:endParaRPr/>
          </a:p>
          <a:p>
            <a:pPr indent="0" lvl="0" marL="0" rtl="0" algn="l">
              <a:spcBef>
                <a:spcPts val="0"/>
              </a:spcBef>
              <a:spcAft>
                <a:spcPts val="0"/>
              </a:spcAft>
              <a:buNone/>
            </a:pPr>
            <a:r>
              <a:t/>
            </a:r>
            <a:endParaRPr/>
          </a:p>
        </p:txBody>
      </p:sp>
      <p:sp>
        <p:nvSpPr>
          <p:cNvPr id="125" name="Google Shape;125;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In this final case, Email Campaigns emerge as a </a:t>
            </a:r>
            <a:r>
              <a:rPr lang="en"/>
              <a:t>clear</a:t>
            </a:r>
            <a:r>
              <a:rPr lang="en"/>
              <a:t> winner for the dominant budgetary role.</a:t>
            </a:r>
            <a:endParaRPr/>
          </a:p>
        </p:txBody>
      </p:sp>
      <p:pic>
        <p:nvPicPr>
          <p:cNvPr id="126" name="Google Shape;126;p24"/>
          <p:cNvPicPr preferRelativeResize="0"/>
          <p:nvPr/>
        </p:nvPicPr>
        <p:blipFill>
          <a:blip r:embed="rId3">
            <a:alphaModFix/>
          </a:blip>
          <a:stretch>
            <a:fillRect/>
          </a:stretch>
        </p:blipFill>
        <p:spPr>
          <a:xfrm>
            <a:off x="0" y="2482493"/>
            <a:ext cx="9144003" cy="200471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Strengths and Limitations</a:t>
            </a:r>
            <a:endParaRPr/>
          </a:p>
        </p:txBody>
      </p:sp>
      <p:sp>
        <p:nvSpPr>
          <p:cNvPr id="132" name="Google Shape;132;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Clr>
                <a:schemeClr val="dk1"/>
              </a:buClr>
              <a:buSzPct val="61111"/>
              <a:buFont typeface="Arial"/>
              <a:buNone/>
            </a:pPr>
            <a:r>
              <a:rPr lang="en"/>
              <a:t>The major strength of this approach is that it naturally handles the data's variability through simulation. On its own, an optimization model is deterministic. However, since the values are drawn from distributions approximated from the data, the final distributions of the allocations account for the stochastic element.</a:t>
            </a:r>
            <a:endParaRPr/>
          </a:p>
          <a:p>
            <a:pPr indent="0" lvl="0" marL="0" rtl="0" algn="l">
              <a:spcBef>
                <a:spcPts val="1200"/>
              </a:spcBef>
              <a:spcAft>
                <a:spcPts val="0"/>
              </a:spcAft>
              <a:buNone/>
            </a:pPr>
            <a:r>
              <a:rPr lang="en"/>
              <a:t>The major limitation is specificity. There is no guarantee that the industry-level data will translate well to our own marketing campaign. Additionally, we do not know which ad campaigns in the data advertised a product similar to the one we are promoting, which we would have ideally focused on. </a:t>
            </a:r>
            <a:endParaRPr/>
          </a:p>
          <a:p>
            <a:pPr indent="0" lvl="0" marL="0" rtl="0" algn="l">
              <a:spcBef>
                <a:spcPts val="1200"/>
              </a:spcBef>
              <a:spcAft>
                <a:spcPts val="0"/>
              </a:spcAft>
              <a:buClr>
                <a:schemeClr val="dk1"/>
              </a:buClr>
              <a:buSzPct val="61111"/>
              <a:buFont typeface="Arial"/>
              <a:buNone/>
            </a:pPr>
            <a:r>
              <a:rPr lang="en"/>
              <a:t>Even if we had this data, there is still no guarantee that the conditions under which it was collected would remain consistent in our time - even a change in consumer tastes could make this approach irrelevant.</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